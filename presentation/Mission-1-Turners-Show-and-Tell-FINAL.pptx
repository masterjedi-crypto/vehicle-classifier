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97BEE8"/>
                </a:solidFill>
                <a:latin typeface="Aptos"/>
              </a:rPr>
              <a:t>LEVEL 5 • MISSION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9875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Turners Car Insurance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75688"/>
            <a:ext cx="9875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CADDF2"/>
                </a:solidFill>
                <a:latin typeface="Aptos"/>
              </a:rPr>
              <a:t>AI Vehicle Recognition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07792"/>
            <a:ext cx="8778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A proof of concept for a simpler vehicle-insurance customer journey.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160520"/>
            <a:ext cx="3154680" cy="1005840"/>
          </a:xfrm>
          <a:prstGeom prst="roundRect">
            <a:avLst/>
          </a:prstGeom>
          <a:solidFill>
            <a:srgbClr val="1B304B"/>
          </a:solidFill>
          <a:ln>
            <a:solidFill>
              <a:srgbClr val="375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34340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7BEE8"/>
                </a:solidFill>
                <a:latin typeface="Aptos"/>
              </a:rPr>
              <a:t>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64515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Stakeholders + context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4160520"/>
            <a:ext cx="3154680" cy="1005840"/>
          </a:xfrm>
          <a:prstGeom prst="roundRect">
            <a:avLst/>
          </a:prstGeom>
          <a:solidFill>
            <a:srgbClr val="1B304B"/>
          </a:solidFill>
          <a:ln>
            <a:solidFill>
              <a:srgbClr val="375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434340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7BEE8"/>
                </a:solidFill>
                <a:latin typeface="Aptos"/>
              </a:rPr>
              <a:t>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64515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React prototype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4160520"/>
            <a:ext cx="3154680" cy="1005840"/>
          </a:xfrm>
          <a:prstGeom prst="roundRect">
            <a:avLst/>
          </a:prstGeom>
          <a:solidFill>
            <a:srgbClr val="1B304B"/>
          </a:solidFill>
          <a:ln>
            <a:solidFill>
              <a:srgbClr val="375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434340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7BEE8"/>
                </a:solidFill>
                <a:latin typeface="Aptos"/>
              </a:rPr>
              <a:t>CONNECT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464515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Azure image recognition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08076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7BEE8"/>
                </a:solidFill>
                <a:latin typeface="Aptos"/>
              </a:rPr>
              <a:t>SHOW &amp; TELL  •  ~3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63B3"/>
                </a:solidFill>
                <a:latin typeface="Aptos"/>
              </a:rPr>
              <a:t>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12034"/>
                </a:solidFill>
                <a:latin typeface="Aptos"/>
              </a:rPr>
              <a:t>Understand the project before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361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D6C7C"/>
                </a:solidFill>
                <a:latin typeface="Aptos"/>
              </a:rPr>
              <a:t>Tasks 1–3 established who matters, what matters, and how the work is tracked.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4572000" cy="841248"/>
          </a:xfrm>
          <a:prstGeom prst="roundRect">
            <a:avLst/>
          </a:prstGeom>
          <a:solidFill>
            <a:srgbClr val="F6F8FB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76856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2034"/>
                </a:solidFill>
                <a:latin typeface="Aptos"/>
              </a:rPr>
              <a:t>Stakeholders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258568"/>
            <a:ext cx="2788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C7C"/>
                </a:solidFill>
                <a:latin typeface="Aptos"/>
              </a:rPr>
              <a:t>Turners Car Auctions, Insurance, Finance, customers and the development team.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227832"/>
            <a:ext cx="4572000" cy="841248"/>
          </a:xfrm>
          <a:prstGeom prst="roundRect">
            <a:avLst/>
          </a:prstGeom>
          <a:solidFill>
            <a:srgbClr val="F6F8FB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355848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2034"/>
                </a:solidFill>
                <a:latin typeface="Aptos"/>
              </a:rPr>
              <a:t>Customer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3337560"/>
            <a:ext cx="2788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C7C"/>
                </a:solidFill>
                <a:latin typeface="Aptos"/>
              </a:rPr>
              <a:t>A simpler journey, accurate information and less confusion across purchase, finance and insurance.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306824"/>
            <a:ext cx="4572000" cy="841248"/>
          </a:xfrm>
          <a:prstGeom prst="roundRect">
            <a:avLst/>
          </a:prstGeom>
          <a:solidFill>
            <a:srgbClr val="F6F8FB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34840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2034"/>
                </a:solidFill>
                <a:latin typeface="Aptos"/>
              </a:rPr>
              <a:t>Project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4416552"/>
            <a:ext cx="2788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C7C"/>
                </a:solidFill>
                <a:latin typeface="Aptos"/>
              </a:rPr>
              <a:t>Six Mission tasks tracked in Jira using To Do, Doing and Done.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32120" y="2057400"/>
            <a:ext cx="5989320" cy="3611880"/>
          </a:xfrm>
          <a:prstGeom prst="roundRect">
            <a:avLst/>
          </a:prstGeom>
          <a:solidFill>
            <a:srgbClr val="EDF4FB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eb7e8629-3742-4bfd-b612-b90b7ccf50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2" y="2824062"/>
            <a:ext cx="5751576" cy="207855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50992" y="573328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D6C7C"/>
                </a:solidFill>
                <a:latin typeface="Aptos"/>
              </a:rPr>
              <a:t>Evidence: Jira board actively tracking all six Mission tasks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73952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D6C7C"/>
                </a:solidFill>
                <a:latin typeface="Aptos"/>
              </a:rPr>
              <a:t>MISSION 1  •  TURNERS CAR INSURANCE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1908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D6C7C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63B3"/>
                </a:solidFill>
                <a:latin typeface="Aptos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12034"/>
                </a:solidFill>
                <a:latin typeface="Aptos"/>
              </a:rPr>
              <a:t>How the AI prototype is designed to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361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D6C7C"/>
                </a:solidFill>
                <a:latin typeface="Aptos"/>
              </a:rPr>
              <a:t>The prototype separates the customer-facing React interface from the cloud image-recognition step.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331720"/>
            <a:ext cx="2487168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542032"/>
            <a:ext cx="457200" cy="457200"/>
          </a:xfrm>
          <a:prstGeom prst="ellipse">
            <a:avLst/>
          </a:prstGeom>
          <a:solidFill>
            <a:srgbClr val="1F6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596896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172968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2034"/>
                </a:solidFill>
                <a:latin typeface="Aptos"/>
              </a:rPr>
              <a:t>Upload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566160"/>
            <a:ext cx="2057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C7C"/>
                </a:solidFill>
                <a:latin typeface="Aptos"/>
              </a:rPr>
              <a:t>Customer selects a clear vehicle photo.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2111" y="3172968"/>
            <a:ext cx="2926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F63B3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1296" y="2331720"/>
            <a:ext cx="2487168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75887" y="2542032"/>
            <a:ext cx="457200" cy="457200"/>
          </a:xfrm>
          <a:prstGeom prst="ellipse">
            <a:avLst/>
          </a:prstGeom>
          <a:solidFill>
            <a:srgbClr val="1F6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5887" y="2596896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3172968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2034"/>
                </a:solidFill>
                <a:latin typeface="Aptos"/>
              </a:rPr>
              <a:t>Preview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7" y="3566160"/>
            <a:ext cx="2057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C7C"/>
                </a:solidFill>
                <a:latin typeface="Aptos"/>
              </a:rPr>
              <a:t>React loads the image and confirms the selected file.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172968"/>
            <a:ext cx="2926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F63B3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64224" y="2331720"/>
            <a:ext cx="2487168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28816" y="2542032"/>
            <a:ext cx="457200" cy="457200"/>
          </a:xfrm>
          <a:prstGeom prst="ellipse">
            <a:avLst/>
          </a:prstGeom>
          <a:solidFill>
            <a:srgbClr val="1F6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28816" y="2596896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3172968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2034"/>
                </a:solidFill>
                <a:latin typeface="Aptos"/>
              </a:rPr>
              <a:t>Analyse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8816" y="3566160"/>
            <a:ext cx="2057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C7C"/>
                </a:solidFill>
                <a:latin typeface="Aptos"/>
              </a:rPr>
              <a:t>Azure image recognition analyses the vehicle image.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3172968"/>
            <a:ext cx="2926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F63B3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17152" y="2331720"/>
            <a:ext cx="2487168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81744" y="2542032"/>
            <a:ext cx="457200" cy="457200"/>
          </a:xfrm>
          <a:prstGeom prst="ellipse">
            <a:avLst/>
          </a:prstGeom>
          <a:solidFill>
            <a:srgbClr val="1F6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81744" y="2596896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81744" y="3172968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2034"/>
                </a:solidFill>
                <a:latin typeface="Aptos"/>
              </a:rPr>
              <a:t>Return 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1744" y="3566160"/>
            <a:ext cx="2057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C7C"/>
                </a:solidFill>
                <a:latin typeface="Aptos"/>
              </a:rPr>
              <a:t>The prediction is displayed back in the interface.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983480"/>
            <a:ext cx="10835640" cy="749808"/>
          </a:xfrm>
          <a:prstGeom prst="roundRect">
            <a:avLst/>
          </a:prstGeom>
          <a:solidFill>
            <a:srgbClr val="EDF4FB"/>
          </a:solidFill>
          <a:ln>
            <a:solidFill>
              <a:srgbClr val="C7D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193792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63B3"/>
                </a:solidFill>
                <a:latin typeface="Aptos"/>
              </a:rPr>
              <a:t>Prototype scope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5166360"/>
            <a:ext cx="8823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12034"/>
                </a:solidFill>
                <a:latin typeface="Aptos"/>
              </a:rPr>
              <a:t>Vehicle recognition only — insurance premium calculation is outside this proof of concept.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473952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D6C7C"/>
                </a:solidFill>
                <a:latin typeface="Aptos"/>
              </a:rPr>
              <a:t>MISSION 1  •  TURNERS CAR INSURANCE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41908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D6C7C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065AE"/>
                </a:solidFill>
                <a:latin typeface="Aptos"/>
              </a:rPr>
              <a:t>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0243D"/>
                </a:solidFill>
                <a:latin typeface="Aptos"/>
              </a:rPr>
              <a:t>Azure Computer Vision working 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1732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2748A"/>
                </a:solidFill>
                <a:latin typeface="Aptos"/>
              </a:rPr>
              <a:t>A vehicle image is uploaded in React, analysed through the Node backend, and the Azure result is returned to the interface.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65960"/>
            <a:ext cx="7543800" cy="3794760"/>
          </a:xfrm>
          <a:prstGeom prst="roundRect">
            <a:avLst/>
          </a:prstGeom>
          <a:solidFill>
            <a:srgbClr val="F6F8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8986fe1-4807-4ada-99b6-ae17863d897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121408"/>
            <a:ext cx="7223760" cy="34015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66760" y="1965960"/>
            <a:ext cx="3246120" cy="3794760"/>
          </a:xfrm>
          <a:prstGeom prst="roundRect">
            <a:avLst/>
          </a:prstGeom>
          <a:solidFill>
            <a:srgbClr val="1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2304288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9DC9F4"/>
                </a:solidFill>
                <a:latin typeface="Aptos"/>
              </a:rPr>
              <a:t>TEST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78892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✓  Azure connected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3182112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✓  Vehicle recognised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3675887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54.6%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11480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2CFDE"/>
                </a:solidFill>
                <a:latin typeface="Aptos"/>
              </a:rPr>
              <a:t>description confidence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461772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9DC9F4"/>
                </a:solidFill>
                <a:latin typeface="Aptos"/>
              </a:rPr>
              <a:t>Returned tags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4937760"/>
            <a:ext cx="2468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  <a:latin typeface="Aptos"/>
              </a:rPr>
              <a:t>tire • wheel • vehicle</a:t>
            </a:r>
            <a:br/>
            <a:r>
              <a:rPr sz="1100">
                <a:solidFill>
                  <a:srgbClr val="FFFFFF"/>
                </a:solidFill>
                <a:latin typeface="Aptos"/>
              </a:rPr>
              <a:t>land vehicle • car • bumper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925312"/>
            <a:ext cx="10835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2748A"/>
                </a:solidFill>
                <a:latin typeface="Aptos"/>
              </a:rPr>
              <a:t>Finding: general Computer Vision detects vehicle content reliably, but exact make/model or body type would require a specialised/custom-trained model.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922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62748A"/>
                </a:solidFill>
                <a:latin typeface="Aptos"/>
              </a:rPr>
              <a:t>MISSION 1  •  TURNERS CAR INSURANCE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48288" y="6492240"/>
            <a:ext cx="18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2748A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